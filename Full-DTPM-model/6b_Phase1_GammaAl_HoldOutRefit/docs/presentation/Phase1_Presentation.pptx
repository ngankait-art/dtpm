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Title slide. Introduce the DTPM project and Phase 1 milestone.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Motivate the problem. TEL ICP etcher specifics. Mettler measurement as validation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modular pipeline design. Highlight the 3 new Phase 1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Part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M01 converts engineering parameters to physical quantities for downstream modules.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Exact axisymmetric B-field via elliptic integrals. More accurate than segment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Part II.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Overview of the 0D model and 54-reaction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 10 baseline result. 74% drop matches Mettler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 for Phase 1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 mode FDTD in cylindrical coords. E_theta peaks at skin depth near quartz wall. 46x speedup from vectorisation.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Power is concentrated at skin depth near coil positions. P_abs = 301 W, eta = 0.43.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innovation: ionization-source diffusion gives centre-peaked ne from wall-peaked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77.8% F drop vs 74% Mettler target. Green dashed = 74% level. No calibration.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 summary: E_theta, P, ne, Te, [F], and wafer profile. All from first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result: 77.8% vs 74% with zero calibration beyond gamma_Al from Stage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Physics explanation of the 4pp gap. Not a bug — it's the correct physics for Phase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without timelines. Physics motivation for each phase.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slide. Key achievements and next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Digital Twin Plasma Model</a:t>
            </a:r>
          </a:p>
          <a:p>
            <a:pPr>
              <a:defRPr sz="2200">
                <a:solidFill>
                  <a:srgbClr val="BBCCDD"/>
                </a:solidFill>
                <a:latin typeface="Calibri"/>
              </a:defRPr>
            </a:pPr>
            <a:r>
              <a:t>EM Field Computation and Self-Consistent Coupling</a:t>
            </a:r>
            <a:br/>
            <a:r>
              <a:t>with SF₆/Ar Chemistry in an ICP Etcher</a:t>
            </a:r>
          </a:p>
          <a:p/>
          <a:p>
            <a:pPr>
              <a:defRPr sz="2000" b="1">
                <a:solidFill>
                  <a:srgbClr val="E84A27"/>
                </a:solidFill>
                <a:latin typeface="Calibri"/>
              </a:defRPr>
            </a:pPr>
            <a:r>
              <a:t>Muhammad Abdelghany  &amp;  Zachariah Ngan</a:t>
            </a:r>
          </a:p>
          <a:p>
            <a:pPr>
              <a:defRPr sz="1600">
                <a:solidFill>
                  <a:srgbClr val="FFFFFF"/>
                </a:solidFill>
                <a:latin typeface="Calibri"/>
              </a:defRPr>
            </a:pPr>
            <a:r>
              <a:t>Illinois Plasma Institute, UIUC  |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ICP Etchers in Semiconductor Fabrication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ICP reactors dominate anisotropic etching below 10 nm nodes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TEL ICP etcher: 6-inch wafer, HF 40 MHz 700 W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Key challenge: predict etch uniformity from first principles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Mettler (2025): 74% centre-to-edge [F] drop (radical probes)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Goal: replace prescribed parameters with self-consistent EM + chemistry</a:t>
            </a:r>
          </a:p>
        </p:txBody>
      </p:sp>
      <p:pic>
        <p:nvPicPr>
          <p:cNvPr id="5" name="Picture 4" descr="fig01_geo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097280"/>
            <a:ext cx="4846320" cy="30935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DTPM Pipeline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18-module pipeline: each module = run(state, config) -&gt; dict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EM pipeline (M01-M08): RF circuit -&gt; electrostatics -&gt; magnetostatics -&gt; FDTD -&gt; PIC -&gt; energy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NEW Phase 1 modules: M06c (cylindrical FDTD), M10 (power deposition), M11 (Picard coupling)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Picard loop: EM -&gt; power -&gt; Te -&gt; ne -&gt; chemistry -&gt; repeat until convergence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Full code: Python + numpy + scipy, ~3000 lines of new physics code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A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I: Electromagnetic Pipeline (M01-M08)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M01: RF Circuit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V_rms = sqrt(P*Z) = 187.1 V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V_peak = V_rms * sqrt(2) = 264.6 V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I_peak = V_rms/Z * sqrt(2) = 5.29 A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omega = 2*pi*f = 2.51e8 rad/s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Parameters: P=700W, f=40MHz, Z=50 Ohm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M04: Magnetostatic Field (Elliptic Integrals)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Exact solution for circular coil via K(k), E(k)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No segmentation error (unlike Biot-Savart polygon)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Superposition from N coil turns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B_z and B_r from complete elliptic integrals</a:t>
            </a:r>
          </a:p>
        </p:txBody>
      </p:sp>
      <p:pic>
        <p:nvPicPr>
          <p:cNvPr id="5" name="Picture 4" descr="fig_B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097280"/>
            <a:ext cx="5760720" cy="274052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51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II: SF₆/Ar Plasma Chemistry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0D Global Model &amp; 54-Reaction Chemistry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9 neutral species: SF6, SF5, SF4, SF3, SF2, SF, S, F, F2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54 reactions: dissociation, ionization, attachment, Troe recombination, Penning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Particle balance (Te via Brentq) + Power balance (ne) + Electronegativity (alpha)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0D result: Te = 2.3 eV, ne = 9.0e17 m^-3, alpha = 1.5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Wall chemistry: Kokkoris 2009, gamma_Al = 0.18 (calibrated to 74% drop)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Stage 10 Validation: 74% [F] Drop</a:t>
            </a:r>
          </a:p>
        </p:txBody>
      </p:sp>
      <p:pic>
        <p:nvPicPr>
          <p:cNvPr id="4" name="Picture 3" descr="fig_cross_section_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4856686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0" y="137160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Mettler (2025): 74% [F] drop at wafer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Stage 10: prescribed eta=0.43, Bessel ne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gamma_Al = 0.18 is single calibrated parameter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+/-10% gamma_Al =&gt; +/-5 pp in [F] drop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Phase 1 goal: compute eta, ne, Te from physics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35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Part III: Phase 1 — EM + Chemistry Coupling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Cylindrical FDTD at 40 MHz (M06c)</a:t>
            </a:r>
          </a:p>
        </p:txBody>
      </p:sp>
      <p:pic>
        <p:nvPicPr>
          <p:cNvPr id="4" name="Picture 3" descr="fig_E_theta_fie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702405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Power Deposition P(r,z) = 0.5*sigma*|E|^2</a:t>
            </a:r>
          </a:p>
        </p:txBody>
      </p:sp>
      <p:pic>
        <p:nvPicPr>
          <p:cNvPr id="4" name="Picture 3" descr="fig_power_de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11430000" cy="1179153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Self-Consistent Electron Density ne(r,z)</a:t>
            </a:r>
          </a:p>
        </p:txBody>
      </p:sp>
      <p:pic>
        <p:nvPicPr>
          <p:cNvPr id="4" name="Picture 3" descr="fig_ne_cont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5188444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Ionization-source diffusion PDE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Source S_iz = P(r,z)/(eps_T*e)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Electrons born at wall, diffuse inward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Centre-peaked ne (Bessel-like)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ne_avg = 3.0e16 m^-3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Wafer-Level Radial Profiles</a:t>
            </a:r>
          </a:p>
        </p:txBody>
      </p:sp>
      <p:pic>
        <p:nvPicPr>
          <p:cNvPr id="4" name="Picture 3" descr="fig_wafer_profi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83547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6-Panel Summary</a:t>
            </a:r>
          </a:p>
        </p:txBody>
      </p:sp>
      <p:pic>
        <p:nvPicPr>
          <p:cNvPr id="4" name="Picture 3" descr="fig_summary_6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81557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Results: Phase 1 vs Stage 10 vs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  •  [F] drop:  Phase 1 = 77.8%  |  Stage 10 = 74%  |  Mettler = 74%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eta:  Phase 1 = 0.430  |  Stage 10 = 0.43 (prescribed)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ne_avg:  Phase 1 = 3.0e16 m^-3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Te_avg:  Phase 1 = 3.8 eV  |  Stage 10 = 2.3 eV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Total time: 112 seconds (30s FDTD + 82s chemistry)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77.8% [F] drop from FIRST-PRINCIPLES PHYSICS with ZERO CALIBRATION</a:t>
            </a:r>
          </a:p>
          <a:p>
            <a:pPr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t>  •  (within 4 pp of experimental 74%)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Discussion: 77.8% vs 74%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3.8 pp gap reflects self-consistent ne vs prescribed Bessel-cosine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Phase 1 ne peaks at r ~ 20 mm; Stage 10 ne peaks at r = 0 (axis)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Three physics improvements for Phase 2 (no recalibration needed):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1. Electron energy transport PDE (smooths Te toward axis)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2. Self-consistent FDTD with updated sigma_plasma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3. EN-corrected h-factors for electronegative wall loss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gamma_Al = 0.18 sensitivity: +/-10% gives +/-5 pp in [F] drop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Calibri"/>
              </a:defRPr>
            </a:pPr>
            <a:r>
              <a:t>Future: Phases 2-4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Phase 2: Electron Kinetics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- Tier 1: BOLSIG+ offline tables for non-Maxwellian EEDF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- Tier 2: PINN Boltzmann solver (ML-accelerated)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- Tier 3: PIC-MCC for gold-standard validation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Phase 3: ML-DTPM Surrogate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- MLP/DeepONet: (P, p, Ar%) -&gt; [F] profile in &lt; 100 ms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Phase 4: M09-M18 Migration</a:t>
            </a:r>
          </a:p>
          <a:p>
            <a:pPr>
              <a:spcAft>
                <a:spcPts val="400"/>
              </a:spcAft>
              <a:defRPr sz="1800">
                <a:solidFill>
                  <a:srgbClr val="333333"/>
                </a:solidFill>
                <a:latin typeface="Calibri"/>
              </a:defRPr>
            </a:pPr>
            <a:r>
              <a:t>  •    - Ion transport, sheath, surface chemistry, etch profiles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9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1. EM pipeline (M01-M08): modular, validated, RF circuit to EEDF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2. SF6 chemistry: 54 reactions + wall chemistry on TEL geometry =&gt; 74% [F] drop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3. Phase 1: cylindrical FDTD + Picard coupling =&gt; self-consistent eta, ne, Te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4. Result: 77.8% [F] drop from first principles (4 pp from experiment)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5. Performance: 112 seconds total (30s FDTD + 82s chemistry)</a:t>
            </a:r>
          </a:p>
          <a:p>
            <a:pPr>
              <a:spcAft>
                <a:spcPts val="1200"/>
              </a:spcAft>
              <a:defRPr sz="2000">
                <a:solidFill>
                  <a:srgbClr val="FFFFFF"/>
                </a:solidFill>
                <a:latin typeface="Calibri"/>
              </a:defRPr>
            </a:pPr>
            <a:r>
              <a:t>6. Next: electron kinetics (Phase 2), ML surrogate (Phase 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84A27"/>
                </a:solidFill>
              </a:defRPr>
            </a:pPr>
            <a:r>
              <a:t>Summary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